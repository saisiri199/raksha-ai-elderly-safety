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media/image10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8288000" cy="10287000"/>
  <p:notesSz cx="6858000" cy="9144000"/>
  <p:embeddedFontLst>
    <p:embeddedFont>
      <p:font typeface="Montserrat" panose="00000500000000000000"/>
      <p:regular r:id="rId15"/>
    </p:embeddedFont>
    <p:embeddedFont>
      <p:font typeface="Montserrat Bold" panose="00000800000000000000"/>
      <p:bold r:id="rId16"/>
    </p:embeddedFont>
    <p:embeddedFont>
      <p:font typeface="Calibri" panose="020F0502020204030204" charset="0"/>
      <p:regular r:id="rId17"/>
      <p:bold r:id="rId18"/>
      <p:italic r:id="rId19"/>
      <p:boldItalic r:id="rId20"/>
    </p:embeddedFont>
    <p:embeddedFont>
      <p:font typeface="Montserrat" panose="00000500000000000000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51576" t="-3683" r="-850" b="-48743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825571" y="648590"/>
            <a:ext cx="16636859" cy="8989819"/>
            <a:chOff x="0" y="0"/>
            <a:chExt cx="4381724" cy="2367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81724" cy="2367689"/>
            </a:xfrm>
            <a:custGeom>
              <a:avLst/>
              <a:gdLst/>
              <a:ahLst/>
              <a:cxnLst/>
              <a:rect l="l" t="t" r="r" b="b"/>
              <a:pathLst>
                <a:path w="4381724" h="2367689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ln w="38100" cap="sq">
              <a:solidFill>
                <a:srgbClr val="F3F0F1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3876040"/>
            <a:ext cx="16230600" cy="2405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700" spc="1264">
                <a:solidFill>
                  <a:srgbClr val="260317"/>
                </a:solidFill>
                <a:latin typeface="Catchy Mager" panose="02000506000000020004"/>
                <a:ea typeface="Catchy Mager" panose="02000506000000020004"/>
                <a:cs typeface="Catchy Mager" panose="02000506000000020004"/>
                <a:sym typeface="Catchy Mager" panose="02000506000000020004"/>
              </a:rPr>
              <a:t>AI-POWERED FALL DETECT</a:t>
            </a:r>
            <a:r>
              <a:rPr lang="en-US" sz="4700" spc="1264">
                <a:solidFill>
                  <a:srgbClr val="260317"/>
                </a:solidFill>
                <a:latin typeface="Catchy Mager" panose="02000506000000020004"/>
                <a:ea typeface="Catchy Mager" panose="02000506000000020004"/>
                <a:cs typeface="Catchy Mager" panose="02000506000000020004"/>
                <a:sym typeface="Catchy Mager" panose="02000506000000020004"/>
              </a:rPr>
              <a:t>ION &amp; EMERGENCY RESPONSE SYSTEM FOR ELDERLY CARE</a:t>
            </a:r>
            <a:endParaRPr lang="en-US" sz="4700" spc="1264">
              <a:solidFill>
                <a:srgbClr val="260317"/>
              </a:solidFill>
              <a:latin typeface="Catchy Mager" panose="02000506000000020004"/>
              <a:ea typeface="Catchy Mager" panose="02000506000000020004"/>
              <a:cs typeface="Catchy Mager" panose="02000506000000020004"/>
              <a:sym typeface="Catchy Mager" panose="02000506000000020004"/>
            </a:endParaRPr>
          </a:p>
          <a:p>
            <a:pPr algn="ctr">
              <a:lnSpc>
                <a:spcPts val="4700"/>
              </a:lnSpc>
            </a:pPr>
          </a:p>
        </p:txBody>
      </p:sp>
      <p:sp>
        <p:nvSpPr>
          <p:cNvPr id="7" name="TextBox 7"/>
          <p:cNvSpPr txBox="1"/>
          <p:nvPr/>
        </p:nvSpPr>
        <p:spPr>
          <a:xfrm>
            <a:off x="1028700" y="5495925"/>
            <a:ext cx="16230600" cy="1506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00"/>
              </a:lnSpc>
            </a:pPr>
            <a:r>
              <a:rPr lang="en-US" sz="11300">
                <a:solidFill>
                  <a:srgbClr val="260317"/>
                </a:solidFill>
                <a:latin typeface="Adventures Unlimited " panose="00000500000000000000"/>
                <a:ea typeface="Adventures Unlimited " panose="00000500000000000000"/>
                <a:cs typeface="Adventures Unlimited " panose="00000500000000000000"/>
                <a:sym typeface="Adventures Unlimited " panose="00000500000000000000"/>
              </a:rPr>
              <a:t>Team Raksha</a:t>
            </a:r>
            <a:endParaRPr lang="en-US" sz="11300">
              <a:solidFill>
                <a:srgbClr val="260317"/>
              </a:solidFill>
              <a:latin typeface="Adventures Unlimited " panose="00000500000000000000"/>
              <a:ea typeface="Adventures Unlimited " panose="00000500000000000000"/>
              <a:cs typeface="Adventures Unlimited " panose="00000500000000000000"/>
              <a:sym typeface="Adventures Unlimited " panose="000005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51576" t="-3683" r="-850" b="-48743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825571" y="648590"/>
            <a:ext cx="16636859" cy="8989819"/>
            <a:chOff x="0" y="0"/>
            <a:chExt cx="4381724" cy="2367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81724" cy="2367689"/>
            </a:xfrm>
            <a:custGeom>
              <a:avLst/>
              <a:gdLst/>
              <a:ahLst/>
              <a:cxnLst/>
              <a:rect l="l" t="t" r="r" b="b"/>
              <a:pathLst>
                <a:path w="4381724" h="2367689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ln w="9525" cap="sq">
              <a:solidFill>
                <a:srgbClr val="260317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043323" y="3361500"/>
            <a:ext cx="10201354" cy="4043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05"/>
              </a:lnSpc>
            </a:pPr>
            <a:r>
              <a:rPr lang="en-US" sz="2535" spc="55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Team         </a:t>
            </a:r>
            <a:r>
              <a:rPr lang="en-US" sz="2535" spc="55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  :  Raksha</a:t>
            </a:r>
            <a:endParaRPr lang="en-US" sz="2535" spc="55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5405"/>
              </a:lnSpc>
            </a:pPr>
            <a:r>
              <a:rPr lang="en-US" sz="2535" spc="55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Institution   :  Sridevi Women’s Engineering College</a:t>
            </a:r>
            <a:endParaRPr lang="en-US" sz="2535" spc="55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5405"/>
              </a:lnSpc>
            </a:pPr>
            <a:r>
              <a:rPr lang="en-US" sz="2535" spc="55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Team Size    :  4</a:t>
            </a:r>
            <a:endParaRPr lang="en-US" sz="2535" spc="55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5405"/>
              </a:lnSpc>
            </a:pPr>
            <a:r>
              <a:rPr lang="en-US" sz="2535" spc="55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Domain        :  Artificial Intelligence</a:t>
            </a:r>
            <a:endParaRPr lang="en-US" sz="2535" spc="55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5405"/>
              </a:lnSpc>
            </a:pPr>
          </a:p>
          <a:p>
            <a:pPr marL="0" lvl="0" indent="0" algn="just">
              <a:lnSpc>
                <a:spcPts val="5405"/>
              </a:lnSpc>
            </a:pPr>
          </a:p>
        </p:txBody>
      </p:sp>
      <p:grpSp>
        <p:nvGrpSpPr>
          <p:cNvPr id="7" name="Group 7"/>
          <p:cNvGrpSpPr/>
          <p:nvPr/>
        </p:nvGrpSpPr>
        <p:grpSpPr>
          <a:xfrm rot="0">
            <a:off x="4040449" y="1870638"/>
            <a:ext cx="10201354" cy="1327179"/>
            <a:chOff x="0" y="0"/>
            <a:chExt cx="2549163" cy="3316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49163" cy="331642"/>
            </a:xfrm>
            <a:custGeom>
              <a:avLst/>
              <a:gdLst/>
              <a:ahLst/>
              <a:cxnLst/>
              <a:rect l="l" t="t" r="r" b="b"/>
              <a:pathLst>
                <a:path w="2549163" h="331642">
                  <a:moveTo>
                    <a:pt x="0" y="0"/>
                  </a:moveTo>
                  <a:lnTo>
                    <a:pt x="2549163" y="0"/>
                  </a:lnTo>
                  <a:lnTo>
                    <a:pt x="2549163" y="331642"/>
                  </a:lnTo>
                  <a:lnTo>
                    <a:pt x="0" y="331642"/>
                  </a:lnTo>
                  <a:close/>
                </a:path>
              </a:pathLst>
            </a:custGeom>
            <a:solidFill>
              <a:srgbClr val="F3F0F1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549163" cy="369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60"/>
                </a:lnSpc>
              </a:p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331154" y="2389358"/>
            <a:ext cx="9622709" cy="4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0"/>
              </a:lnSpc>
            </a:pPr>
            <a:r>
              <a:rPr lang="en-US" sz="3825" spc="914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Details</a:t>
            </a:r>
            <a:endParaRPr lang="en-US" sz="3825" spc="914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51576" t="-3683" r="-850" b="-48743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825571" y="648590"/>
            <a:ext cx="16636859" cy="8989819"/>
            <a:chOff x="0" y="0"/>
            <a:chExt cx="4381724" cy="2367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81724" cy="2367689"/>
            </a:xfrm>
            <a:custGeom>
              <a:avLst/>
              <a:gdLst/>
              <a:ahLst/>
              <a:cxnLst/>
              <a:rect l="l" t="t" r="r" b="b"/>
              <a:pathLst>
                <a:path w="4381724" h="2367689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ln w="38100" cap="sq">
              <a:solidFill>
                <a:srgbClr val="F3F0F1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02303" y="2548903"/>
            <a:ext cx="13332370" cy="643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3580" lvl="1" indent="-351790" algn="l">
              <a:lnSpc>
                <a:spcPts val="4560"/>
              </a:lnSpc>
              <a:buFont typeface="Arial" panose="020B0604020202020204"/>
              <a:buChar char="•"/>
            </a:pPr>
            <a:r>
              <a:rPr lang="en-US" altLang="en-US" sz="3200">
                <a:latin typeface="Montserrat" panose="00000500000000000000" charset="0"/>
                <a:cs typeface="Montserrat" panose="00000500000000000000" charset="0"/>
              </a:rPr>
              <a:t>Elderly people are vulnerable to bathroom falls, especially when living alone.</a:t>
            </a:r>
            <a:endParaRPr lang="en-US" altLang="en-US" sz="3200">
              <a:latin typeface="Montserrat" panose="00000500000000000000" charset="0"/>
              <a:cs typeface="Montserrat" panose="00000500000000000000" charset="0"/>
            </a:endParaRPr>
          </a:p>
          <a:p>
            <a:pPr marL="703580" lvl="1" indent="-351790" algn="l">
              <a:lnSpc>
                <a:spcPts val="4560"/>
              </a:lnSpc>
              <a:buFont typeface="Arial" panose="020B0604020202020204"/>
              <a:buChar char="•"/>
            </a:pPr>
            <a:r>
              <a:rPr lang="en-US" altLang="en-US" sz="3200">
                <a:latin typeface="Montserrat" panose="00000500000000000000" charset="0"/>
                <a:cs typeface="Montserrat" panose="00000500000000000000" charset="0"/>
              </a:rPr>
              <a:t>Falls may go unnoticed, causing delays in assistance.</a:t>
            </a:r>
            <a:endParaRPr lang="en-US" altLang="en-US" sz="3200">
              <a:latin typeface="Montserrat" panose="00000500000000000000" charset="0"/>
              <a:cs typeface="Montserrat" panose="00000500000000000000" charset="0"/>
            </a:endParaRPr>
          </a:p>
          <a:p>
            <a:pPr marL="703580" lvl="1" indent="-351790" algn="l">
              <a:lnSpc>
                <a:spcPts val="4560"/>
              </a:lnSpc>
              <a:buFont typeface="Arial" panose="020B0604020202020204"/>
              <a:buChar char="•"/>
            </a:pPr>
            <a:r>
              <a:rPr lang="en-US" altLang="en-US" sz="3200">
                <a:latin typeface="Montserrat" panose="00000500000000000000" charset="0"/>
                <a:cs typeface="Montserrat" panose="00000500000000000000" charset="0"/>
              </a:rPr>
              <a:t>Existing wearables can be costly, uncomfortable, or easily forgotten.</a:t>
            </a:r>
            <a:endParaRPr lang="en-US" altLang="en-US" sz="3200">
              <a:latin typeface="Montserrat" panose="00000500000000000000" charset="0"/>
              <a:cs typeface="Montserrat" panose="00000500000000000000" charset="0"/>
            </a:endParaRPr>
          </a:p>
          <a:p>
            <a:pPr marL="703580" lvl="1" indent="-351790" algn="l">
              <a:lnSpc>
                <a:spcPts val="4560"/>
              </a:lnSpc>
              <a:buFont typeface="Arial" panose="020B0604020202020204"/>
              <a:buChar char="•"/>
            </a:pPr>
            <a:r>
              <a:rPr lang="en-US" altLang="en-US" sz="3200">
                <a:latin typeface="Montserrat" panose="00000500000000000000" charset="0"/>
                <a:cs typeface="Montserrat" panose="00000500000000000000" charset="0"/>
              </a:rPr>
              <a:t>There is a need for an affordable, privacy-conscious, non-intrusive solution.</a:t>
            </a:r>
            <a:endParaRPr lang="en-US" altLang="en-US" sz="3200">
              <a:latin typeface="Montserrat" panose="00000500000000000000" charset="0"/>
              <a:cs typeface="Montserrat" panose="00000500000000000000" charset="0"/>
            </a:endParaRPr>
          </a:p>
          <a:p>
            <a:pPr marL="703580" lvl="1" indent="-351790" algn="l">
              <a:lnSpc>
                <a:spcPts val="4560"/>
              </a:lnSpc>
              <a:buFont typeface="Arial" panose="020B0604020202020204"/>
              <a:buChar char="•"/>
            </a:pPr>
            <a:r>
              <a:rPr lang="en-US" altLang="en-US" sz="3200">
                <a:latin typeface="Montserrat" panose="00000500000000000000" charset="0"/>
                <a:cs typeface="Montserrat" panose="00000500000000000000" charset="0"/>
              </a:rPr>
              <a:t>The system should detect a possible fall, give the caregiver a short time to respond, and send an urgent alert if there is no response.</a:t>
            </a:r>
            <a:endParaRPr lang="en-US" altLang="en-US" sz="3200">
              <a:latin typeface="Montserrat" panose="00000500000000000000" charset="0"/>
              <a:cs typeface="Montserrat" panose="00000500000000000000" charset="0"/>
            </a:endParaRPr>
          </a:p>
          <a:p>
            <a:pPr algn="l">
              <a:lnSpc>
                <a:spcPts val="4560"/>
              </a:lnSpc>
            </a:pPr>
            <a:endParaRPr sz="3200">
              <a:latin typeface="Montserrat" panose="00000500000000000000" charset="0"/>
              <a:cs typeface="Montserrat" panose="00000500000000000000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985578" y="1152525"/>
            <a:ext cx="11039768" cy="159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5"/>
              </a:lnSpc>
            </a:pPr>
            <a:r>
              <a:rPr lang="en-US" sz="6275" spc="696">
                <a:solidFill>
                  <a:srgbClr val="260317"/>
                </a:solidFill>
                <a:latin typeface="Catchy Mager" panose="02000506000000020004"/>
                <a:ea typeface="Catchy Mager" panose="02000506000000020004"/>
                <a:cs typeface="Catchy Mager" panose="02000506000000020004"/>
                <a:sym typeface="Catchy Mager" panose="02000506000000020004"/>
              </a:rPr>
              <a:t>PROBLEM STATEMENT</a:t>
            </a:r>
            <a:endParaRPr lang="en-US" sz="6275" spc="696">
              <a:solidFill>
                <a:srgbClr val="260317"/>
              </a:solidFill>
              <a:latin typeface="Catchy Mager" panose="02000506000000020004"/>
              <a:ea typeface="Catchy Mager" panose="02000506000000020004"/>
              <a:cs typeface="Catchy Mager" panose="02000506000000020004"/>
              <a:sym typeface="Catchy Mager" panose="02000506000000020004"/>
            </a:endParaRPr>
          </a:p>
          <a:p>
            <a:pPr algn="just">
              <a:lnSpc>
                <a:spcPts val="602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51576" t="-3683" r="-850" b="-48743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825571" y="648590"/>
            <a:ext cx="16636859" cy="8989819"/>
            <a:chOff x="0" y="0"/>
            <a:chExt cx="4381724" cy="2367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81724" cy="2367689"/>
            </a:xfrm>
            <a:custGeom>
              <a:avLst/>
              <a:gdLst/>
              <a:ahLst/>
              <a:cxnLst/>
              <a:rect l="l" t="t" r="r" b="b"/>
              <a:pathLst>
                <a:path w="4381724" h="2367689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ln w="38100" cap="sq">
              <a:solidFill>
                <a:srgbClr val="F3F0F1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81785" y="2942215"/>
            <a:ext cx="16077515" cy="4744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00"/>
              </a:lnSpc>
            </a:pPr>
            <a:endParaRPr lang="en-US" altLang="en-US" sz="3200">
              <a:latin typeface="Montserrat" panose="00000500000000000000" charset="0"/>
              <a:cs typeface="Montserrat" panose="00000500000000000000" charset="0"/>
            </a:endParaRPr>
          </a:p>
          <a:p>
            <a:pPr algn="just">
              <a:lnSpc>
                <a:spcPts val="3700"/>
              </a:lnSpc>
            </a:pPr>
            <a:r>
              <a:rPr lang="en-US" altLang="en-US" sz="3200">
                <a:latin typeface="Montserrat" panose="00000500000000000000" charset="0"/>
                <a:cs typeface="Montserrat" panose="00000500000000000000" charset="0"/>
              </a:rPr>
              <a:t>Raksha uses the </a:t>
            </a:r>
            <a:r>
              <a:rPr lang="en-US" altLang="en-US" sz="3200" b="1">
                <a:latin typeface="Montserrat" panose="00000500000000000000" charset="0"/>
                <a:cs typeface="Montserrat" panose="00000500000000000000" charset="0"/>
              </a:rPr>
              <a:t>HLK-LD2410C with an ESP32</a:t>
            </a:r>
            <a:r>
              <a:rPr lang="en-US" altLang="en-US" sz="3200">
                <a:latin typeface="Montserrat" panose="00000500000000000000" charset="0"/>
                <a:cs typeface="Montserrat" panose="00000500000000000000" charset="0"/>
              </a:rPr>
              <a:t> to monitor an elderly person inside the bathroom without using a camera.</a:t>
            </a:r>
            <a:endParaRPr lang="en-US" altLang="en-US" sz="3200">
              <a:latin typeface="Montserrat" panose="00000500000000000000" charset="0"/>
              <a:cs typeface="Montserrat" panose="00000500000000000000" charset="0"/>
            </a:endParaRPr>
          </a:p>
          <a:p>
            <a:pPr algn="just">
              <a:lnSpc>
                <a:spcPts val="3700"/>
              </a:lnSpc>
            </a:pPr>
            <a:endParaRPr lang="zh-CN" altLang="en-US" sz="3200">
              <a:latin typeface="Montserrat" panose="00000500000000000000" charset="0"/>
              <a:cs typeface="Montserrat" panose="00000500000000000000" charset="0"/>
            </a:endParaRPr>
          </a:p>
          <a:p>
            <a:pPr marL="457200" indent="-457200" algn="l">
              <a:lnSpc>
                <a:spcPts val="3700"/>
              </a:lnSpc>
              <a:buFont typeface="Arial" panose="020B0604020202020204" pitchFamily="34" charset="0"/>
              <a:buChar char="•"/>
            </a:pPr>
            <a:r>
              <a:rPr lang="en-US" altLang="en-US" sz="3200" b="1">
                <a:latin typeface="Montserrat" panose="00000500000000000000" charset="0"/>
                <a:cs typeface="Montserrat" panose="00000500000000000000" charset="0"/>
              </a:rPr>
              <a:t>Possible fall detected </a:t>
            </a:r>
            <a:r>
              <a:rPr lang="en-US" altLang="en-US" sz="3200">
                <a:latin typeface="Montserrat" panose="00000500000000000000" charset="0"/>
                <a:cs typeface="Montserrat" panose="00000500000000000000" charset="0"/>
              </a:rPr>
              <a:t>→ Raksha triggers a 20-second verification window.</a:t>
            </a:r>
            <a:endParaRPr lang="en-US" altLang="en-US" sz="3200">
              <a:latin typeface="Montserrat" panose="00000500000000000000" charset="0"/>
              <a:cs typeface="Montserrat" panose="00000500000000000000" charset="0"/>
            </a:endParaRPr>
          </a:p>
          <a:p>
            <a:pPr marL="457200" indent="-457200" algn="l">
              <a:lnSpc>
                <a:spcPts val="3700"/>
              </a:lnSpc>
              <a:buFont typeface="Arial" panose="020B0604020202020204" pitchFamily="34" charset="0"/>
              <a:buChar char="•"/>
            </a:pPr>
            <a:r>
              <a:rPr lang="en-US" altLang="en-US" sz="3200">
                <a:latin typeface="Montserrat" panose="00000500000000000000" charset="0"/>
                <a:cs typeface="Montserrat" panose="00000500000000000000" charset="0"/>
              </a:rPr>
              <a:t>During this window, the system checks for recovery or continued inactivity.</a:t>
            </a:r>
            <a:endParaRPr lang="en-US" altLang="en-US" sz="3200">
              <a:latin typeface="Montserrat" panose="00000500000000000000" charset="0"/>
              <a:cs typeface="Montserrat" panose="00000500000000000000" charset="0"/>
            </a:endParaRPr>
          </a:p>
          <a:p>
            <a:pPr marL="457200" indent="-457200" algn="l">
              <a:lnSpc>
                <a:spcPts val="3700"/>
              </a:lnSpc>
              <a:buFont typeface="Arial" panose="020B0604020202020204" pitchFamily="34" charset="0"/>
              <a:buChar char="•"/>
            </a:pPr>
            <a:r>
              <a:rPr lang="en-US" altLang="en-US" sz="3200" b="1">
                <a:latin typeface="Montserrat" panose="00000500000000000000" charset="0"/>
                <a:cs typeface="Montserrat" panose="00000500000000000000" charset="0"/>
              </a:rPr>
              <a:t>No recovery detected</a:t>
            </a:r>
            <a:r>
              <a:rPr lang="en-US" altLang="en-US" sz="3200">
                <a:latin typeface="Montserrat" panose="00000500000000000000" charset="0"/>
                <a:cs typeface="Montserrat" panose="00000500000000000000" charset="0"/>
              </a:rPr>
              <a:t> → An urgent </a:t>
            </a:r>
            <a:r>
              <a:rPr lang="en-US" altLang="en-US" sz="3200" b="1">
                <a:latin typeface="Montserrat" panose="00000500000000000000" charset="0"/>
                <a:cs typeface="Montserrat" panose="00000500000000000000" charset="0"/>
              </a:rPr>
              <a:t>Telegram alert</a:t>
            </a:r>
            <a:r>
              <a:rPr lang="en-US" altLang="en-US" sz="3200">
                <a:latin typeface="Montserrat" panose="00000500000000000000" charset="0"/>
                <a:cs typeface="Montserrat" panose="00000500000000000000" charset="0"/>
              </a:rPr>
              <a:t> is automatically sent to the caregiver.</a:t>
            </a:r>
            <a:endParaRPr lang="en-US" altLang="en-US" sz="3200">
              <a:latin typeface="Montserrat" panose="00000500000000000000" charset="0"/>
              <a:cs typeface="Montserrat" panose="00000500000000000000" charset="0"/>
            </a:endParaRPr>
          </a:p>
          <a:p>
            <a:pPr marL="457200" indent="-457200" algn="l">
              <a:lnSpc>
                <a:spcPts val="3700"/>
              </a:lnSpc>
              <a:buFont typeface="Arial" panose="020B0604020202020204" pitchFamily="34" charset="0"/>
              <a:buChar char="•"/>
            </a:pPr>
            <a:r>
              <a:rPr lang="en-US" altLang="en-US" sz="3200" b="1">
                <a:latin typeface="Montserrat" panose="00000500000000000000" charset="0"/>
                <a:cs typeface="Montserrat" panose="00000500000000000000" charset="0"/>
              </a:rPr>
              <a:t>Caregiver receives the alert</a:t>
            </a:r>
            <a:r>
              <a:rPr lang="en-US" altLang="en-US" sz="3200">
                <a:latin typeface="Montserrat" panose="00000500000000000000" charset="0"/>
                <a:cs typeface="Montserrat" panose="00000500000000000000" charset="0"/>
              </a:rPr>
              <a:t> and can immediately check on the elderly person.</a:t>
            </a:r>
            <a:endParaRPr lang="en-US" altLang="en-US" sz="3200">
              <a:latin typeface="Montserrat" panose="00000500000000000000" charset="0"/>
              <a:cs typeface="Montserrat" panose="00000500000000000000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939698" y="1171575"/>
            <a:ext cx="14408604" cy="1014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50"/>
              </a:lnSpc>
            </a:pPr>
            <a:r>
              <a:rPr lang="en-US" sz="7655" spc="1561">
                <a:solidFill>
                  <a:srgbClr val="260317"/>
                </a:solidFill>
                <a:latin typeface="Catchy Mager" panose="02000506000000020004"/>
                <a:ea typeface="Catchy Mager" panose="02000506000000020004"/>
                <a:cs typeface="Catchy Mager" panose="02000506000000020004"/>
                <a:sym typeface="Catchy Mager" panose="02000506000000020004"/>
              </a:rPr>
              <a:t>PROPOSED SOLUTION</a:t>
            </a:r>
            <a:endParaRPr lang="en-US" sz="7655" spc="1561">
              <a:solidFill>
                <a:srgbClr val="260317"/>
              </a:solidFill>
              <a:latin typeface="Catchy Mager" panose="02000506000000020004"/>
              <a:ea typeface="Catchy Mager" panose="02000506000000020004"/>
              <a:cs typeface="Catchy Mager" panose="02000506000000020004"/>
              <a:sym typeface="Catchy Mager" panose="02000506000000020004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2289810" y="2185670"/>
            <a:ext cx="13108305" cy="738505"/>
            <a:chOff x="0" y="0"/>
            <a:chExt cx="2728881" cy="18455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28881" cy="184554"/>
            </a:xfrm>
            <a:custGeom>
              <a:avLst/>
              <a:gdLst/>
              <a:ahLst/>
              <a:cxnLst/>
              <a:rect l="l" t="t" r="r" b="b"/>
              <a:pathLst>
                <a:path w="2728881" h="184554">
                  <a:moveTo>
                    <a:pt x="0" y="0"/>
                  </a:moveTo>
                  <a:lnTo>
                    <a:pt x="2728881" y="0"/>
                  </a:lnTo>
                  <a:lnTo>
                    <a:pt x="2728881" y="184554"/>
                  </a:lnTo>
                  <a:lnTo>
                    <a:pt x="0" y="184554"/>
                  </a:lnTo>
                  <a:close/>
                </a:path>
              </a:pathLst>
            </a:custGeom>
            <a:solidFill>
              <a:srgbClr val="FAEEF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728881" cy="222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60"/>
                </a:lnSpc>
              </a:p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133413" y="2433565"/>
            <a:ext cx="13375820" cy="26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altLang="en-US" sz="2400" b="1">
                <a:latin typeface="monsterrat" charset="0"/>
                <a:cs typeface="monsterrat" charset="0"/>
              </a:rPr>
              <a:t>“Raksha turns a silent bathroom emergency into an alert that someone can act on.”</a:t>
            </a:r>
            <a:endParaRPr lang="en-US" altLang="en-US" sz="2400" b="1">
              <a:latin typeface="monsterrat" charset="0"/>
              <a:cs typeface="monsterrat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5571" y="648590"/>
            <a:ext cx="16636859" cy="8989819"/>
            <a:chOff x="0" y="0"/>
            <a:chExt cx="4381724" cy="23676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81724" cy="2367689"/>
            </a:xfrm>
            <a:custGeom>
              <a:avLst/>
              <a:gdLst/>
              <a:ahLst/>
              <a:cxnLst/>
              <a:rect l="l" t="t" r="r" b="b"/>
              <a:pathLst>
                <a:path w="4381724" h="2367689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ln w="9525" cap="sq">
              <a:solidFill>
                <a:srgbClr val="260317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755" y="683895"/>
            <a:ext cx="16605885" cy="89211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5571" y="648590"/>
            <a:ext cx="16636859" cy="8989819"/>
            <a:chOff x="0" y="0"/>
            <a:chExt cx="4381724" cy="23676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81724" cy="2367689"/>
            </a:xfrm>
            <a:custGeom>
              <a:avLst/>
              <a:gdLst/>
              <a:ahLst/>
              <a:cxnLst/>
              <a:rect l="l" t="t" r="r" b="b"/>
              <a:pathLst>
                <a:path w="4381724" h="2367689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ln w="9525" cap="sq">
              <a:solidFill>
                <a:srgbClr val="260317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4262755" y="2050415"/>
            <a:ext cx="10207625" cy="7454900"/>
            <a:chOff x="0" y="0"/>
            <a:chExt cx="1340282" cy="8302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40282" cy="830297"/>
            </a:xfrm>
            <a:custGeom>
              <a:avLst/>
              <a:gdLst/>
              <a:ahLst/>
              <a:cxnLst/>
              <a:rect l="l" t="t" r="r" b="b"/>
              <a:pathLst>
                <a:path w="1340282" h="830297">
                  <a:moveTo>
                    <a:pt x="6826" y="0"/>
                  </a:moveTo>
                  <a:lnTo>
                    <a:pt x="1333456" y="0"/>
                  </a:lnTo>
                  <a:cubicBezTo>
                    <a:pt x="1337226" y="0"/>
                    <a:pt x="1340282" y="3056"/>
                    <a:pt x="1340282" y="6826"/>
                  </a:cubicBezTo>
                  <a:lnTo>
                    <a:pt x="1340282" y="823472"/>
                  </a:lnTo>
                  <a:cubicBezTo>
                    <a:pt x="1340282" y="827241"/>
                    <a:pt x="1337226" y="830297"/>
                    <a:pt x="1333456" y="830297"/>
                  </a:cubicBezTo>
                  <a:lnTo>
                    <a:pt x="6826" y="830297"/>
                  </a:lnTo>
                  <a:cubicBezTo>
                    <a:pt x="3056" y="830297"/>
                    <a:pt x="0" y="827241"/>
                    <a:pt x="0" y="823472"/>
                  </a:cubicBezTo>
                  <a:lnTo>
                    <a:pt x="0" y="6826"/>
                  </a:lnTo>
                  <a:cubicBezTo>
                    <a:pt x="0" y="3056"/>
                    <a:pt x="3056" y="0"/>
                    <a:pt x="6826" y="0"/>
                  </a:cubicBezTo>
                  <a:close/>
                </a:path>
              </a:pathLst>
            </a:custGeom>
            <a:solidFill>
              <a:srgbClr val="EAD3E0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340282" cy="8874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267200" y="2171700"/>
            <a:ext cx="10174605" cy="60706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4255"/>
              </a:lnSpc>
            </a:pPr>
            <a:r>
              <a:rPr lang="en-US" altLang="en-US" sz="2000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HLK-LD2410C </a:t>
            </a:r>
            <a:endParaRPr lang="en-US" altLang="en-US" sz="2000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ctr">
              <a:lnSpc>
                <a:spcPts val="4255"/>
              </a:lnSpc>
            </a:pPr>
            <a:r>
              <a:rPr lang="en-US" altLang="en-US" sz="2000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↓</a:t>
            </a:r>
            <a:endParaRPr lang="en-US" altLang="en-US" sz="2000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ctr">
              <a:lnSpc>
                <a:spcPts val="4255"/>
              </a:lnSpc>
            </a:pPr>
            <a:r>
              <a:rPr lang="en-US" altLang="en-US" sz="2000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ESP32</a:t>
            </a:r>
            <a:endParaRPr lang="en-US" altLang="en-US" sz="2000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ctr">
              <a:lnSpc>
                <a:spcPts val="4255"/>
              </a:lnSpc>
            </a:pPr>
            <a:r>
              <a:rPr lang="en-US" altLang="en-US" sz="2000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↓ </a:t>
            </a:r>
            <a:endParaRPr lang="en-US" altLang="en-US" sz="2000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ctr">
              <a:lnSpc>
                <a:spcPts val="4255"/>
              </a:lnSpc>
            </a:pPr>
            <a:r>
              <a:rPr lang="en-US" altLang="en-US" sz="2000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Fall Detection </a:t>
            </a:r>
            <a:endParaRPr lang="en-US" altLang="en-US" sz="2000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ctr">
              <a:lnSpc>
                <a:spcPts val="4255"/>
              </a:lnSpc>
            </a:pPr>
            <a:r>
              <a:rPr lang="en-US" altLang="en-US" sz="2000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↓</a:t>
            </a:r>
            <a:endParaRPr lang="en-US" altLang="en-US" sz="2000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ctr">
              <a:lnSpc>
                <a:spcPts val="4255"/>
              </a:lnSpc>
            </a:pPr>
            <a:r>
              <a:rPr lang="en-US" altLang="en-US" sz="2000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Raksha App </a:t>
            </a:r>
            <a:endParaRPr lang="en-US" altLang="en-US" sz="2000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ctr">
              <a:lnSpc>
                <a:spcPts val="4255"/>
              </a:lnSpc>
            </a:pPr>
            <a:r>
              <a:rPr lang="en-US" altLang="en-US" sz="2000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↓</a:t>
            </a:r>
            <a:endParaRPr lang="en-US" altLang="en-US" sz="2000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ctr">
              <a:lnSpc>
                <a:spcPts val="4255"/>
              </a:lnSpc>
            </a:pPr>
            <a:r>
              <a:rPr lang="en-US" altLang="en-US" sz="2000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Caregiver Alert </a:t>
            </a:r>
            <a:endParaRPr lang="en-US" altLang="en-US" sz="2000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ctr">
              <a:lnSpc>
                <a:spcPts val="4255"/>
              </a:lnSpc>
            </a:pPr>
            <a:r>
              <a:rPr lang="en-US" altLang="en-US" sz="2000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↓</a:t>
            </a:r>
            <a:endParaRPr lang="en-US" altLang="en-US" sz="2000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ctr">
              <a:lnSpc>
                <a:spcPts val="4255"/>
              </a:lnSpc>
            </a:pPr>
            <a:r>
              <a:rPr lang="en-US" altLang="en-US" sz="2000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20-sec Response </a:t>
            </a:r>
            <a:endParaRPr lang="en-US" altLang="en-US" sz="2000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ctr">
              <a:lnSpc>
                <a:spcPts val="4255"/>
              </a:lnSpc>
            </a:pPr>
            <a:r>
              <a:rPr lang="en-US" altLang="en-US" sz="2000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↓</a:t>
            </a:r>
            <a:endParaRPr lang="en-US" altLang="en-US" sz="2000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ctr">
              <a:lnSpc>
                <a:spcPts val="4255"/>
              </a:lnSpc>
            </a:pPr>
            <a:r>
              <a:rPr lang="en-US" altLang="en-US" sz="2000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Resolved / Telegram Alert</a:t>
            </a:r>
            <a:endParaRPr lang="en-US" altLang="en-US" sz="2000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990600"/>
            <a:ext cx="16230600" cy="203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55"/>
              </a:lnSpc>
            </a:pPr>
            <a:r>
              <a:rPr lang="en-US" sz="6470" spc="1086">
                <a:solidFill>
                  <a:srgbClr val="260317"/>
                </a:solidFill>
                <a:latin typeface="Catchy Mager" panose="02000506000000020004"/>
                <a:ea typeface="Catchy Mager" panose="02000506000000020004"/>
                <a:cs typeface="Catchy Mager" panose="02000506000000020004"/>
                <a:sym typeface="Catchy Mager" panose="02000506000000020004"/>
              </a:rPr>
              <a:t>FLOWCHART </a:t>
            </a:r>
            <a:endParaRPr lang="en-US" sz="6470" spc="1086">
              <a:solidFill>
                <a:srgbClr val="260317"/>
              </a:solidFill>
              <a:latin typeface="Catchy Mager" panose="02000506000000020004"/>
              <a:ea typeface="Catchy Mager" panose="02000506000000020004"/>
              <a:cs typeface="Catchy Mager" panose="02000506000000020004"/>
              <a:sym typeface="Catchy Mager" panose="02000506000000020004"/>
            </a:endParaRPr>
          </a:p>
          <a:p>
            <a:pPr algn="ctr">
              <a:lnSpc>
                <a:spcPts val="7955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51576" t="-3683" r="-850" b="-48743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734146" y="735129"/>
            <a:ext cx="16636859" cy="8989819"/>
            <a:chOff x="0" y="0"/>
            <a:chExt cx="4381724" cy="2367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81724" cy="2367689"/>
            </a:xfrm>
            <a:custGeom>
              <a:avLst/>
              <a:gdLst/>
              <a:ahLst/>
              <a:cxnLst/>
              <a:rect l="l" t="t" r="r" b="b"/>
              <a:pathLst>
                <a:path w="4381724" h="2367689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6553707" y="3561504"/>
            <a:ext cx="2498868" cy="2498868"/>
            <a:chOff x="0" y="0"/>
            <a:chExt cx="3331824" cy="3331824"/>
          </a:xfrm>
        </p:grpSpPr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 rot="0">
              <a:off x="0" y="0"/>
              <a:ext cx="3331824" cy="3331824"/>
              <a:chOff x="0" y="0"/>
              <a:chExt cx="14400530" cy="1440053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399261" cy="14399261"/>
              </a:xfrm>
              <a:custGeom>
                <a:avLst/>
                <a:gdLst/>
                <a:ahLst/>
                <a:cxnLst/>
                <a:rect l="l" t="t" r="r" b="b"/>
                <a:pathLst>
                  <a:path w="14399261" h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FAEEF5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 rot="0">
              <a:off x="408917" y="466286"/>
              <a:ext cx="2505689" cy="2505689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AD3E0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 rot="0">
            <a:off x="9235425" y="3561504"/>
            <a:ext cx="2498868" cy="2498868"/>
            <a:chOff x="0" y="0"/>
            <a:chExt cx="3331824" cy="3331824"/>
          </a:xfrm>
        </p:grpSpPr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 rot="5400000">
              <a:off x="0" y="0"/>
              <a:ext cx="3331824" cy="3331824"/>
              <a:chOff x="0" y="0"/>
              <a:chExt cx="14400530" cy="1440053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4399261" cy="14399261"/>
              </a:xfrm>
              <a:custGeom>
                <a:avLst/>
                <a:gdLst/>
                <a:ahLst/>
                <a:cxnLst/>
                <a:rect l="l" t="t" r="r" b="b"/>
                <a:pathLst>
                  <a:path w="14399261" h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FAEEF5"/>
              </a:solidFill>
            </p:spPr>
          </p:sp>
        </p:grpSp>
        <p:grpSp>
          <p:nvGrpSpPr>
            <p:cNvPr id="15" name="Group 15"/>
            <p:cNvGrpSpPr/>
            <p:nvPr/>
          </p:nvGrpSpPr>
          <p:grpSpPr>
            <a:xfrm rot="0">
              <a:off x="386640" y="461273"/>
              <a:ext cx="2510702" cy="251070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AD3E0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 rot="0">
            <a:off x="9235425" y="6191564"/>
            <a:ext cx="2498868" cy="2498868"/>
            <a:chOff x="0" y="0"/>
            <a:chExt cx="3331824" cy="3331824"/>
          </a:xfrm>
        </p:grpSpPr>
        <p:grpSp>
          <p:nvGrpSpPr>
            <p:cNvPr id="19" name="Group 19"/>
            <p:cNvGrpSpPr>
              <a:grpSpLocks noChangeAspect="1"/>
            </p:cNvGrpSpPr>
            <p:nvPr/>
          </p:nvGrpSpPr>
          <p:grpSpPr>
            <a:xfrm rot="-10800000">
              <a:off x="0" y="0"/>
              <a:ext cx="3331824" cy="3331824"/>
              <a:chOff x="0" y="0"/>
              <a:chExt cx="14400530" cy="1440053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399261" cy="14399261"/>
              </a:xfrm>
              <a:custGeom>
                <a:avLst/>
                <a:gdLst/>
                <a:ahLst/>
                <a:cxnLst/>
                <a:rect l="l" t="t" r="r" b="b"/>
                <a:pathLst>
                  <a:path w="14399261" h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FAEEF5"/>
              </a:solidFill>
            </p:spPr>
          </p:sp>
        </p:grpSp>
        <p:grpSp>
          <p:nvGrpSpPr>
            <p:cNvPr id="21" name="Group 21"/>
            <p:cNvGrpSpPr/>
            <p:nvPr/>
          </p:nvGrpSpPr>
          <p:grpSpPr>
            <a:xfrm rot="0">
              <a:off x="374877" y="374877"/>
              <a:ext cx="2530206" cy="2530206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AD3E0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 rot="0">
            <a:off x="6553707" y="6191564"/>
            <a:ext cx="2521050" cy="2521050"/>
            <a:chOff x="0" y="0"/>
            <a:chExt cx="3361401" cy="3361401"/>
          </a:xfrm>
        </p:grpSpPr>
        <p:grpSp>
          <p:nvGrpSpPr>
            <p:cNvPr id="25" name="Group 25"/>
            <p:cNvGrpSpPr>
              <a:grpSpLocks noChangeAspect="1"/>
            </p:cNvGrpSpPr>
            <p:nvPr/>
          </p:nvGrpSpPr>
          <p:grpSpPr>
            <a:xfrm rot="-5400000">
              <a:off x="0" y="0"/>
              <a:ext cx="3361401" cy="3361401"/>
              <a:chOff x="0" y="0"/>
              <a:chExt cx="14400530" cy="1440053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4399261" cy="14399261"/>
              </a:xfrm>
              <a:custGeom>
                <a:avLst/>
                <a:gdLst/>
                <a:ahLst/>
                <a:cxnLst/>
                <a:rect l="l" t="t" r="r" b="b"/>
                <a:pathLst>
                  <a:path w="14399261" h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FAEEF5"/>
              </a:solidFill>
            </p:spPr>
          </p:sp>
        </p:grpSp>
        <p:grpSp>
          <p:nvGrpSpPr>
            <p:cNvPr id="27" name="Group 27"/>
            <p:cNvGrpSpPr/>
            <p:nvPr/>
          </p:nvGrpSpPr>
          <p:grpSpPr>
            <a:xfrm rot="0">
              <a:off x="408917" y="443611"/>
              <a:ext cx="2508873" cy="2508873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AD3E0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2664396" y="1942772"/>
            <a:ext cx="13142058" cy="1229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45"/>
              </a:lnSpc>
            </a:pPr>
            <a:r>
              <a:rPr lang="en-US" sz="8880" spc="985">
                <a:solidFill>
                  <a:srgbClr val="260317"/>
                </a:solidFill>
                <a:latin typeface="Catchy Mager" panose="02000506000000020004"/>
                <a:ea typeface="Catchy Mager" panose="02000506000000020004"/>
                <a:cs typeface="Catchy Mager" panose="02000506000000020004"/>
                <a:sym typeface="Catchy Mager" panose="02000506000000020004"/>
              </a:rPr>
              <a:t>TECH</a:t>
            </a:r>
            <a:r>
              <a:rPr lang="en-US" sz="8880" spc="985">
                <a:solidFill>
                  <a:srgbClr val="260317"/>
                </a:solidFill>
                <a:latin typeface="Catchy Mager" panose="02000506000000020004"/>
                <a:ea typeface="Catchy Mager" panose="02000506000000020004"/>
                <a:cs typeface="Catchy Mager" panose="02000506000000020004"/>
                <a:sym typeface="Catchy Mager" panose="02000506000000020004"/>
              </a:rPr>
              <a:t>NOLOGY</a:t>
            </a:r>
            <a:endParaRPr lang="en-US" sz="8880" spc="985">
              <a:solidFill>
                <a:srgbClr val="260317"/>
              </a:solidFill>
              <a:latin typeface="Catchy Mager" panose="02000506000000020004"/>
              <a:ea typeface="Catchy Mager" panose="02000506000000020004"/>
              <a:cs typeface="Catchy Mager" panose="02000506000000020004"/>
              <a:sym typeface="Catchy Mager" panose="02000506000000020004"/>
            </a:endParaRPr>
          </a:p>
        </p:txBody>
      </p:sp>
      <p:sp>
        <p:nvSpPr>
          <p:cNvPr id="31" name="Freeform 31"/>
          <p:cNvSpPr/>
          <p:nvPr/>
        </p:nvSpPr>
        <p:spPr>
          <a:xfrm>
            <a:off x="7323829" y="4195991"/>
            <a:ext cx="952399" cy="1411913"/>
          </a:xfrm>
          <a:custGeom>
            <a:avLst/>
            <a:gdLst/>
            <a:ahLst/>
            <a:cxnLst/>
            <a:rect l="l" t="t" r="r" b="b"/>
            <a:pathLst>
              <a:path w="952399" h="1411913">
                <a:moveTo>
                  <a:pt x="0" y="0"/>
                </a:moveTo>
                <a:lnTo>
                  <a:pt x="952400" y="0"/>
                </a:lnTo>
                <a:lnTo>
                  <a:pt x="952400" y="1411913"/>
                </a:lnTo>
                <a:lnTo>
                  <a:pt x="0" y="1411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9968395" y="6857927"/>
            <a:ext cx="1047406" cy="1166140"/>
          </a:xfrm>
          <a:custGeom>
            <a:avLst/>
            <a:gdLst/>
            <a:ahLst/>
            <a:cxnLst/>
            <a:rect l="l" t="t" r="r" b="b"/>
            <a:pathLst>
              <a:path w="1047406" h="1166140">
                <a:moveTo>
                  <a:pt x="0" y="0"/>
                </a:moveTo>
                <a:lnTo>
                  <a:pt x="1047405" y="0"/>
                </a:lnTo>
                <a:lnTo>
                  <a:pt x="1047405" y="1166140"/>
                </a:lnTo>
                <a:lnTo>
                  <a:pt x="0" y="11661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0009650" y="4312945"/>
            <a:ext cx="973317" cy="1112940"/>
          </a:xfrm>
          <a:custGeom>
            <a:avLst/>
            <a:gdLst/>
            <a:ahLst/>
            <a:cxnLst/>
            <a:rect l="l" t="t" r="r" b="b"/>
            <a:pathLst>
              <a:path w="973317" h="1112940">
                <a:moveTo>
                  <a:pt x="0" y="0"/>
                </a:moveTo>
                <a:lnTo>
                  <a:pt x="973317" y="0"/>
                </a:lnTo>
                <a:lnTo>
                  <a:pt x="973317" y="1112941"/>
                </a:lnTo>
                <a:lnTo>
                  <a:pt x="0" y="1112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7275352" y="6848491"/>
            <a:ext cx="1049354" cy="1233215"/>
          </a:xfrm>
          <a:custGeom>
            <a:avLst/>
            <a:gdLst/>
            <a:ahLst/>
            <a:cxnLst/>
            <a:rect l="l" t="t" r="r" b="b"/>
            <a:pathLst>
              <a:path w="1049354" h="1233215">
                <a:moveTo>
                  <a:pt x="0" y="0"/>
                </a:moveTo>
                <a:lnTo>
                  <a:pt x="1049354" y="0"/>
                </a:lnTo>
                <a:lnTo>
                  <a:pt x="1049354" y="1233215"/>
                </a:lnTo>
                <a:lnTo>
                  <a:pt x="0" y="12332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2453464" y="3986681"/>
            <a:ext cx="3071543" cy="1323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80"/>
              </a:lnSpc>
            </a:pPr>
            <a:r>
              <a:rPr lang="en-US" sz="4045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Py</a:t>
            </a:r>
            <a:r>
              <a:rPr lang="en-US" sz="4045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thon</a:t>
            </a:r>
            <a:endParaRPr lang="en-US" sz="4045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ctr">
              <a:lnSpc>
                <a:spcPts val="5380"/>
              </a:lnSpc>
            </a:pPr>
            <a:r>
              <a:rPr lang="en-US" sz="4045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OpenCV</a:t>
            </a:r>
            <a:endParaRPr lang="en-US" sz="4045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2453464" y="6666850"/>
            <a:ext cx="3071543" cy="2676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85"/>
              </a:lnSpc>
            </a:pPr>
            <a:r>
              <a:rPr lang="en-US" sz="4050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SMS/</a:t>
            </a:r>
            <a:endParaRPr lang="en-US" sz="4050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ctr">
              <a:lnSpc>
                <a:spcPts val="5385"/>
              </a:lnSpc>
            </a:pPr>
            <a:r>
              <a:rPr lang="en-US" sz="4050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N</a:t>
            </a:r>
            <a:r>
              <a:rPr lang="en-US" sz="4050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otification API</a:t>
            </a:r>
            <a:endParaRPr lang="en-US" sz="4050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ctr">
              <a:lnSpc>
                <a:spcPts val="5385"/>
              </a:lnSpc>
            </a:pPr>
          </a:p>
        </p:txBody>
      </p:sp>
      <p:sp>
        <p:nvSpPr>
          <p:cNvPr id="37" name="TextBox 37"/>
          <p:cNvSpPr txBox="1"/>
          <p:nvPr/>
        </p:nvSpPr>
        <p:spPr>
          <a:xfrm>
            <a:off x="12696318" y="4060246"/>
            <a:ext cx="3418129" cy="2000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80"/>
              </a:lnSpc>
            </a:pPr>
            <a:r>
              <a:rPr lang="en-US" sz="4045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M</a:t>
            </a:r>
            <a:r>
              <a:rPr lang="en-US" sz="4045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ediaPipe</a:t>
            </a:r>
            <a:endParaRPr lang="en-US" sz="4045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ctr">
              <a:lnSpc>
                <a:spcPts val="5380"/>
              </a:lnSpc>
            </a:pPr>
            <a:r>
              <a:rPr lang="en-US" sz="4045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Streamlit</a:t>
            </a:r>
            <a:endParaRPr lang="en-US" sz="4045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ctr">
              <a:lnSpc>
                <a:spcPts val="5380"/>
              </a:lnSpc>
            </a:pPr>
          </a:p>
        </p:txBody>
      </p:sp>
      <p:sp>
        <p:nvSpPr>
          <p:cNvPr id="38" name="TextBox 38"/>
          <p:cNvSpPr txBox="1"/>
          <p:nvPr/>
        </p:nvSpPr>
        <p:spPr>
          <a:xfrm>
            <a:off x="12998949" y="6666850"/>
            <a:ext cx="3359119" cy="1896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80"/>
              </a:lnSpc>
            </a:pPr>
            <a:r>
              <a:rPr lang="en-US" sz="4045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Futu</a:t>
            </a:r>
            <a:r>
              <a:rPr lang="en-US" sz="4045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 IoT integration</a:t>
            </a:r>
            <a:endParaRPr lang="en-US" sz="4045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190"/>
              </a:lnSpc>
            </a:pPr>
          </a:p>
          <a:p>
            <a:pPr algn="l">
              <a:lnSpc>
                <a:spcPts val="219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5571" y="850406"/>
            <a:ext cx="16636859" cy="8989819"/>
            <a:chOff x="0" y="0"/>
            <a:chExt cx="4381724" cy="23676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81724" cy="2367689"/>
            </a:xfrm>
            <a:custGeom>
              <a:avLst/>
              <a:gdLst/>
              <a:ahLst/>
              <a:cxnLst/>
              <a:rect l="l" t="t" r="r" b="b"/>
              <a:pathLst>
                <a:path w="4381724" h="2367689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ln w="9525" cap="sq">
              <a:solidFill>
                <a:srgbClr val="260317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67605" y="3418198"/>
            <a:ext cx="15576201" cy="218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2450" lvl="1" indent="-276225" algn="l">
              <a:lnSpc>
                <a:spcPts val="3585"/>
              </a:lnSpc>
              <a:buFont typeface="Arial" panose="020B0604020202020204"/>
              <a:buChar char="•"/>
            </a:pPr>
            <a:r>
              <a:rPr lang="en-US" sz="2560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Aff</a:t>
            </a:r>
            <a:r>
              <a:rPr lang="en-US" sz="2560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ordable elderly monitoring for homes and communities where full-time caregivers aren't always possible.</a:t>
            </a:r>
            <a:endParaRPr lang="en-US" sz="2560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552450" lvl="1" indent="-276225" algn="l">
              <a:lnSpc>
                <a:spcPts val="3585"/>
              </a:lnSpc>
              <a:buFont typeface="Arial" panose="020B0604020202020204"/>
              <a:buChar char="•"/>
            </a:pPr>
            <a:r>
              <a:rPr lang="en-US" sz="2560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 low-cost solution that works with devices families already have.</a:t>
            </a:r>
            <a:endParaRPr lang="en-US" sz="2560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3445"/>
              </a:lnSpc>
              <a:spcBef>
                <a:spcPct val="0"/>
              </a:spcBef>
            </a:pPr>
          </a:p>
          <a:p>
            <a:pPr algn="l">
              <a:lnSpc>
                <a:spcPts val="3445"/>
              </a:lnSpc>
              <a:spcBef>
                <a:spcPct val="0"/>
              </a:spcBef>
            </a:pPr>
          </a:p>
        </p:txBody>
      </p:sp>
      <p:grpSp>
        <p:nvGrpSpPr>
          <p:cNvPr id="6" name="Group 6"/>
          <p:cNvGrpSpPr/>
          <p:nvPr/>
        </p:nvGrpSpPr>
        <p:grpSpPr>
          <a:xfrm rot="0">
            <a:off x="5420589" y="2740525"/>
            <a:ext cx="7055020" cy="513781"/>
            <a:chOff x="0" y="0"/>
            <a:chExt cx="1762942" cy="12838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62942" cy="128386"/>
            </a:xfrm>
            <a:custGeom>
              <a:avLst/>
              <a:gdLst/>
              <a:ahLst/>
              <a:cxnLst/>
              <a:rect l="l" t="t" r="r" b="b"/>
              <a:pathLst>
                <a:path w="1762942" h="128386">
                  <a:moveTo>
                    <a:pt x="0" y="0"/>
                  </a:moveTo>
                  <a:lnTo>
                    <a:pt x="1762942" y="0"/>
                  </a:lnTo>
                  <a:lnTo>
                    <a:pt x="1762942" y="128386"/>
                  </a:lnTo>
                  <a:lnTo>
                    <a:pt x="0" y="128386"/>
                  </a:lnTo>
                  <a:close/>
                </a:path>
              </a:pathLst>
            </a:custGeom>
            <a:solidFill>
              <a:srgbClr val="EAD3E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762942" cy="166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6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67605" y="1038225"/>
            <a:ext cx="15576201" cy="2216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85"/>
              </a:lnSpc>
            </a:pPr>
            <a:r>
              <a:rPr lang="en-US" sz="4985" spc="553">
                <a:solidFill>
                  <a:srgbClr val="260317"/>
                </a:solidFill>
                <a:latin typeface="Catchy Mager" panose="02000506000000020004"/>
                <a:ea typeface="Catchy Mager" panose="02000506000000020004"/>
                <a:cs typeface="Catchy Mager" panose="02000506000000020004"/>
                <a:sym typeface="Catchy Mager" panose="02000506000000020004"/>
              </a:rPr>
              <a:t>INDIA–JAPAN: BUILDING THE FUTURE OF</a:t>
            </a:r>
            <a:r>
              <a:rPr lang="en-US" sz="4985" spc="553">
                <a:solidFill>
                  <a:srgbClr val="260317"/>
                </a:solidFill>
                <a:latin typeface="Catchy Mager" panose="02000506000000020004"/>
                <a:ea typeface="Catchy Mager" panose="02000506000000020004"/>
                <a:cs typeface="Catchy Mager" panose="02000506000000020004"/>
                <a:sym typeface="Catchy Mager" panose="02000506000000020004"/>
              </a:rPr>
              <a:t> ELDERLY CARE TOGETHER</a:t>
            </a:r>
            <a:endParaRPr lang="en-US" sz="4985" spc="553">
              <a:solidFill>
                <a:srgbClr val="260317"/>
              </a:solidFill>
              <a:latin typeface="Catchy Mager" panose="02000506000000020004"/>
              <a:ea typeface="Catchy Mager" panose="02000506000000020004"/>
              <a:cs typeface="Catchy Mager" panose="02000506000000020004"/>
              <a:sym typeface="Catchy Mager" panose="02000506000000020004"/>
            </a:endParaRPr>
          </a:p>
          <a:p>
            <a:pPr algn="ctr">
              <a:lnSpc>
                <a:spcPts val="5785"/>
              </a:lnSpc>
            </a:pPr>
          </a:p>
        </p:txBody>
      </p:sp>
      <p:sp>
        <p:nvSpPr>
          <p:cNvPr id="10" name="TextBox 10"/>
          <p:cNvSpPr txBox="1"/>
          <p:nvPr/>
        </p:nvSpPr>
        <p:spPr>
          <a:xfrm>
            <a:off x="5689311" y="2838622"/>
            <a:ext cx="6517574" cy="41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0"/>
              </a:lnSpc>
            </a:pPr>
            <a:r>
              <a:rPr lang="en-US" sz="3325" b="1" spc="369">
                <a:solidFill>
                  <a:srgbClr val="260317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INDIA</a:t>
            </a:r>
            <a:endParaRPr lang="en-US" sz="3325" b="1" spc="369">
              <a:solidFill>
                <a:srgbClr val="260317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grpSp>
        <p:nvGrpSpPr>
          <p:cNvPr id="11" name="Group 11"/>
          <p:cNvGrpSpPr/>
          <p:nvPr/>
        </p:nvGrpSpPr>
        <p:grpSpPr>
          <a:xfrm rot="0">
            <a:off x="5420589" y="5032692"/>
            <a:ext cx="7055020" cy="513781"/>
            <a:chOff x="0" y="0"/>
            <a:chExt cx="1762942" cy="1283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62942" cy="128386"/>
            </a:xfrm>
            <a:custGeom>
              <a:avLst/>
              <a:gdLst/>
              <a:ahLst/>
              <a:cxnLst/>
              <a:rect l="l" t="t" r="r" b="b"/>
              <a:pathLst>
                <a:path w="1762942" h="128386">
                  <a:moveTo>
                    <a:pt x="0" y="0"/>
                  </a:moveTo>
                  <a:lnTo>
                    <a:pt x="1762942" y="0"/>
                  </a:lnTo>
                  <a:lnTo>
                    <a:pt x="1762942" y="128386"/>
                  </a:lnTo>
                  <a:lnTo>
                    <a:pt x="0" y="128386"/>
                  </a:lnTo>
                  <a:close/>
                </a:path>
              </a:pathLst>
            </a:custGeom>
            <a:solidFill>
              <a:srgbClr val="EAD3E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762942" cy="166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2660"/>
                </a:lnSpc>
              </a:p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689311" y="5130788"/>
            <a:ext cx="6517574" cy="41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0"/>
              </a:lnSpc>
            </a:pPr>
            <a:r>
              <a:rPr lang="en-US" sz="3325" b="1" spc="369">
                <a:solidFill>
                  <a:srgbClr val="260317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JAPAN</a:t>
            </a:r>
            <a:endParaRPr lang="en-US" sz="3325" b="1" spc="369">
              <a:solidFill>
                <a:srgbClr val="260317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67605" y="5708398"/>
            <a:ext cx="15576201" cy="222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2450" lvl="1" indent="-276225" algn="l">
              <a:lnSpc>
                <a:spcPts val="3585"/>
              </a:lnSpc>
              <a:buFont typeface="Arial" panose="020B0604020202020204"/>
              <a:buChar char="•"/>
            </a:pPr>
            <a:r>
              <a:rPr lang="en-US" sz="2560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</a:t>
            </a:r>
            <a:r>
              <a:rPr lang="en-US" sz="2560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its directly into Japan's super-aged society challenge — one of the most urgent in the world.</a:t>
            </a:r>
            <a:endParaRPr lang="en-US" sz="2560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552450" lvl="1" indent="-276225" algn="l">
              <a:lnSpc>
                <a:spcPts val="3585"/>
              </a:lnSpc>
              <a:buFont typeface="Arial" panose="020B0604020202020204"/>
              <a:buChar char="•"/>
            </a:pPr>
            <a:r>
              <a:rPr lang="en-US" sz="2560">
                <a:solidFill>
                  <a:srgbClr val="260317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Built to complement Japan's world-leading elder-care robotics and smart-home technology.</a:t>
            </a:r>
            <a:endParaRPr lang="en-US" sz="2560">
              <a:solidFill>
                <a:srgbClr val="260317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3585"/>
              </a:lnSpc>
              <a:spcBef>
                <a:spcPct val="0"/>
              </a:spcBef>
            </a:pPr>
          </a:p>
        </p:txBody>
      </p:sp>
      <p:sp>
        <p:nvSpPr>
          <p:cNvPr id="16" name="TextBox 16"/>
          <p:cNvSpPr txBox="1"/>
          <p:nvPr/>
        </p:nvSpPr>
        <p:spPr>
          <a:xfrm>
            <a:off x="1355900" y="7881757"/>
            <a:ext cx="15576201" cy="1243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5"/>
              </a:lnSpc>
            </a:pPr>
            <a:r>
              <a:rPr lang="en-US" sz="2505" b="1">
                <a:solidFill>
                  <a:srgbClr val="260317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"A</a:t>
            </a:r>
            <a:r>
              <a:rPr lang="en-US" sz="2505" b="1">
                <a:solidFill>
                  <a:srgbClr val="260317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n affordable AI-based bridge between Indian and Japanese approaches to elderly care."</a:t>
            </a:r>
            <a:endParaRPr lang="en-US" sz="2505" b="1">
              <a:solidFill>
                <a:srgbClr val="260317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3225"/>
              </a:lnSpc>
            </a:pPr>
          </a:p>
          <a:p>
            <a:pPr algn="l">
              <a:lnSpc>
                <a:spcPts val="322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51576" t="-3683" r="-850" b="-48743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825571" y="648590"/>
            <a:ext cx="16636859" cy="8989819"/>
            <a:chOff x="0" y="0"/>
            <a:chExt cx="4381724" cy="2367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81724" cy="2367689"/>
            </a:xfrm>
            <a:custGeom>
              <a:avLst/>
              <a:gdLst/>
              <a:ahLst/>
              <a:cxnLst/>
              <a:rect l="l" t="t" r="r" b="b"/>
              <a:pathLst>
                <a:path w="4381724" h="2367689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5"/>
                </a:lnSpc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923957" y="1332657"/>
            <a:ext cx="14440086" cy="880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25"/>
              </a:lnSpc>
            </a:pPr>
            <a:r>
              <a:rPr lang="en-US" sz="6690" spc="742">
                <a:solidFill>
                  <a:srgbClr val="260317"/>
                </a:solidFill>
                <a:latin typeface="Catchy Mager" panose="02000506000000020004"/>
                <a:ea typeface="Catchy Mager" panose="02000506000000020004"/>
                <a:cs typeface="Catchy Mager" panose="02000506000000020004"/>
                <a:sym typeface="Catchy Mager" panose="02000506000000020004"/>
              </a:rPr>
              <a:t>FUTURE SCOPE</a:t>
            </a:r>
            <a:endParaRPr lang="en-US" sz="6690" spc="742">
              <a:solidFill>
                <a:srgbClr val="260317"/>
              </a:solidFill>
              <a:latin typeface="Catchy Mager" panose="02000506000000020004"/>
              <a:ea typeface="Catchy Mager" panose="02000506000000020004"/>
              <a:cs typeface="Catchy Mager" panose="02000506000000020004"/>
              <a:sym typeface="Catchy Mager" panose="020005060000000200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19265" y="2483960"/>
            <a:ext cx="14947514" cy="5697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5030" lvl="1" indent="-437515" algn="l">
              <a:lnSpc>
                <a:spcPts val="5675"/>
              </a:lnSpc>
              <a:buFont typeface="Arial" panose="020B0604020202020204"/>
              <a:buChar char="•"/>
            </a:pPr>
            <a:r>
              <a:rPr lang="en-US" sz="4055">
                <a:solidFill>
                  <a:srgbClr val="260317"/>
                </a:solidFill>
                <a:latin typeface="Catchy Mager" panose="02000506000000020004"/>
                <a:ea typeface="Catchy Mager" panose="02000506000000020004"/>
                <a:cs typeface="Catchy Mager" panose="02000506000000020004"/>
                <a:sym typeface="Catchy Mager" panose="02000506000000020004"/>
              </a:rPr>
              <a:t>Wearables + IoT → combine camera and sensor data.</a:t>
            </a:r>
            <a:endParaRPr lang="en-US" sz="4055">
              <a:solidFill>
                <a:srgbClr val="260317"/>
              </a:solidFill>
              <a:latin typeface="Catchy Mager" panose="02000506000000020004"/>
              <a:ea typeface="Catchy Mager" panose="02000506000000020004"/>
              <a:cs typeface="Catchy Mager" panose="02000506000000020004"/>
              <a:sym typeface="Catchy Mager" panose="02000506000000020004"/>
            </a:endParaRPr>
          </a:p>
          <a:p>
            <a:pPr marL="875030" lvl="1" indent="-437515" algn="l">
              <a:lnSpc>
                <a:spcPts val="5675"/>
              </a:lnSpc>
              <a:buFont typeface="Arial" panose="020B0604020202020204"/>
              <a:buChar char="•"/>
            </a:pPr>
            <a:r>
              <a:rPr lang="en-US" sz="4055">
                <a:solidFill>
                  <a:srgbClr val="260317"/>
                </a:solidFill>
                <a:latin typeface="Catchy Mager" panose="02000506000000020004"/>
                <a:ea typeface="Catchy Mager" panose="02000506000000020004"/>
                <a:cs typeface="Catchy Mager" panose="02000506000000020004"/>
                <a:sym typeface="Catchy Mager" panose="02000506000000020004"/>
              </a:rPr>
              <a:t>Smart Homes → automatic emergency response.</a:t>
            </a:r>
            <a:endParaRPr lang="en-US" sz="4055">
              <a:solidFill>
                <a:srgbClr val="260317"/>
              </a:solidFill>
              <a:latin typeface="Catchy Mager" panose="02000506000000020004"/>
              <a:ea typeface="Catchy Mager" panose="02000506000000020004"/>
              <a:cs typeface="Catchy Mager" panose="02000506000000020004"/>
              <a:sym typeface="Catchy Mager" panose="02000506000000020004"/>
            </a:endParaRPr>
          </a:p>
          <a:p>
            <a:pPr marL="875030" lvl="1" indent="-437515" algn="l">
              <a:lnSpc>
                <a:spcPts val="5675"/>
              </a:lnSpc>
              <a:buFont typeface="Arial" panose="020B0604020202020204"/>
              <a:buChar char="•"/>
            </a:pPr>
            <a:r>
              <a:rPr lang="en-US" sz="4055">
                <a:solidFill>
                  <a:srgbClr val="260317"/>
                </a:solidFill>
                <a:latin typeface="Catchy Mager" panose="02000506000000020004"/>
                <a:ea typeface="Catchy Mager" panose="02000506000000020004"/>
                <a:cs typeface="Catchy Mager" panose="02000506000000020004"/>
                <a:sym typeface="Catchy Mager" panose="02000506000000020004"/>
              </a:rPr>
              <a:t>Elder-care Robotics → connect fall detection with assistive robots.</a:t>
            </a:r>
            <a:endParaRPr lang="en-US" sz="4055">
              <a:solidFill>
                <a:srgbClr val="260317"/>
              </a:solidFill>
              <a:latin typeface="Catchy Mager" panose="02000506000000020004"/>
              <a:ea typeface="Catchy Mager" panose="02000506000000020004"/>
              <a:cs typeface="Catchy Mager" panose="02000506000000020004"/>
              <a:sym typeface="Catchy Mager" panose="02000506000000020004"/>
            </a:endParaRPr>
          </a:p>
          <a:p>
            <a:pPr marL="875030" lvl="1" indent="-437515" algn="l">
              <a:lnSpc>
                <a:spcPts val="5675"/>
              </a:lnSpc>
              <a:buFont typeface="Arial" panose="020B0604020202020204"/>
              <a:buChar char="•"/>
            </a:pPr>
            <a:r>
              <a:rPr lang="en-US" sz="4055">
                <a:solidFill>
                  <a:srgbClr val="260317"/>
                </a:solidFill>
                <a:latin typeface="Catchy Mager" panose="02000506000000020004"/>
                <a:ea typeface="Catchy Mager" panose="02000506000000020004"/>
                <a:cs typeface="Catchy Mager" panose="02000506000000020004"/>
                <a:sym typeface="Catchy Mager" panose="02000506000000020004"/>
              </a:rPr>
              <a:t>Advanced AI → improve detection and reduce false alarms.</a:t>
            </a:r>
            <a:endParaRPr lang="en-US" sz="4055">
              <a:solidFill>
                <a:srgbClr val="260317"/>
              </a:solidFill>
              <a:latin typeface="Catchy Mager" panose="02000506000000020004"/>
              <a:ea typeface="Catchy Mager" panose="02000506000000020004"/>
              <a:cs typeface="Catchy Mager" panose="02000506000000020004"/>
              <a:sym typeface="Catchy Mager" panose="02000506000000020004"/>
            </a:endParaRPr>
          </a:p>
          <a:p>
            <a:pPr algn="l">
              <a:lnSpc>
                <a:spcPts val="5675"/>
              </a:lnSpc>
              <a:spcBef>
                <a:spcPct val="0"/>
              </a:spcBef>
            </a:pPr>
          </a:p>
          <a:p>
            <a:pPr algn="l">
              <a:lnSpc>
                <a:spcPts val="5675"/>
              </a:lnSpc>
              <a:spcBef>
                <a:spcPct val="0"/>
              </a:spcBef>
            </a:pPr>
            <a:r>
              <a:rPr lang="en-US" sz="4055">
                <a:solidFill>
                  <a:srgbClr val="260317"/>
                </a:solidFill>
                <a:latin typeface="Catchy Mager" panose="02000506000000020004"/>
                <a:ea typeface="Catchy Mager" panose="02000506000000020004"/>
                <a:cs typeface="Catchy Mager" panose="02000506000000020004"/>
                <a:sym typeface="Catchy Mager" panose="02000506000000020004"/>
              </a:rPr>
              <a:t>Today: AI Fall Detection.</a:t>
            </a:r>
            <a:endParaRPr lang="en-US" sz="4055">
              <a:solidFill>
                <a:srgbClr val="260317"/>
              </a:solidFill>
              <a:latin typeface="Catchy Mager" panose="02000506000000020004"/>
              <a:ea typeface="Catchy Mager" panose="02000506000000020004"/>
              <a:cs typeface="Catchy Mager" panose="02000506000000020004"/>
              <a:sym typeface="Catchy Mager" panose="02000506000000020004"/>
            </a:endParaRPr>
          </a:p>
          <a:p>
            <a:pPr algn="l">
              <a:lnSpc>
                <a:spcPts val="5675"/>
              </a:lnSpc>
              <a:spcBef>
                <a:spcPct val="0"/>
              </a:spcBef>
            </a:pPr>
            <a:r>
              <a:rPr lang="en-US" sz="4055">
                <a:solidFill>
                  <a:srgbClr val="260317"/>
                </a:solidFill>
                <a:latin typeface="Catchy Mager" panose="02000506000000020004"/>
                <a:ea typeface="Catchy Mager" panose="02000506000000020004"/>
                <a:cs typeface="Catchy Mager" panose="02000506000000020004"/>
                <a:sym typeface="Catchy Mager" panose="02000506000000020004"/>
              </a:rPr>
              <a:t>Tomorrow: AI + IoT + Smart Home + Elder-Care Robotics.</a:t>
            </a:r>
            <a:endParaRPr lang="en-US" sz="4055">
              <a:solidFill>
                <a:srgbClr val="260317"/>
              </a:solidFill>
              <a:latin typeface="Catchy Mager" panose="02000506000000020004"/>
              <a:ea typeface="Catchy Mager" panose="02000506000000020004"/>
              <a:cs typeface="Catchy Mager" panose="02000506000000020004"/>
              <a:sym typeface="Catchy Mager" panose="020005060000000200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2195</Words>
  <Application>WPS Presentation</Application>
  <PresentationFormat>On-screen Show (4:3)</PresentationFormat>
  <Paragraphs>99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SimSun</vt:lpstr>
      <vt:lpstr>Wingdings</vt:lpstr>
      <vt:lpstr>Catchy Mager</vt:lpstr>
      <vt:lpstr>Adventures Unlimited </vt:lpstr>
      <vt:lpstr>Montserrat</vt:lpstr>
      <vt:lpstr>Arial</vt:lpstr>
      <vt:lpstr>Montserrat Bold</vt:lpstr>
      <vt:lpstr>Calibri</vt:lpstr>
      <vt:lpstr>Microsoft YaHei</vt:lpstr>
      <vt:lpstr>Arial Unicode MS</vt:lpstr>
      <vt:lpstr>Montserrat</vt:lpstr>
      <vt:lpstr>monsterrat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Fall Detection &amp; Emergency Response System for Elderly Care</dc:title>
  <dc:creator/>
  <cp:lastModifiedBy>Sai Siri Chittela</cp:lastModifiedBy>
  <cp:revision>3</cp:revision>
  <dcterms:created xsi:type="dcterms:W3CDTF">2006-08-16T00:00:00Z</dcterms:created>
  <dcterms:modified xsi:type="dcterms:W3CDTF">2026-09-19T11:38:52Z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A97BBD91191B4956A1BDB82277A10F7D_12</vt:lpwstr>
  </property>
</Properties>
</file>